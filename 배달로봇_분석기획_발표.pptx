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D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4" name="Shape 2"/>
          <p:cNvSpPr/>
          <p:nvPr/>
        </p:nvSpPr>
        <p:spPr>
          <a:xfrm>
            <a:off x="6583680" y="457200"/>
            <a:ext cx="2103120" cy="2103120"/>
          </a:xfrm>
          <a:prstGeom prst="ellipse">
            <a:avLst/>
          </a:prstGeom>
          <a:solidFill>
            <a:srgbClr val="0369A1">
              <a:alpha val="7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583680" y="640080"/>
            <a:ext cx="21031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000000"/>
                </a:solidFill>
              </a:rPr>
              <a:t>🤖</a:t>
            </a:r>
            <a:endParaRPr lang="en-US" sz="64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2011680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058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캡스톤 프로젝트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50876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서울시 배달로봇 도입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365760" y="228600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최적 지역 선정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365760" y="31546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기반 GIS 분석 및 다기준 점수화(MCS) 적용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74320" y="477316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2026. 04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0F2D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1031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목차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274320" y="28346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0" y="521208"/>
            <a:ext cx="457200" cy="457200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0" y="521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840480" y="54864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분석 배경 및 필요성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200400" y="1069848"/>
            <a:ext cx="566928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1225296"/>
            <a:ext cx="457200" cy="457200"/>
          </a:xfrm>
          <a:prstGeom prst="ellipse">
            <a:avLst/>
          </a:prstGeom>
          <a:solidFill>
            <a:srgbClr val="E0F2FE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0" y="12252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369A1"/>
                </a:solidFill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840480" y="1252728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분석 목표 및 기대효과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3200400" y="1773936"/>
            <a:ext cx="566928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1929384"/>
            <a:ext cx="457200" cy="457200"/>
          </a:xfrm>
          <a:prstGeom prst="ellipse">
            <a:avLst/>
          </a:prstGeom>
          <a:solidFill>
            <a:srgbClr val="E0F2FE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0" y="1929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369A1"/>
                </a:solidFill>
              </a:rPr>
              <a:t>03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840480" y="1956816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가설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3200400" y="2478024"/>
            <a:ext cx="566928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0" y="2633472"/>
            <a:ext cx="457200" cy="457200"/>
          </a:xfrm>
          <a:prstGeom prst="ellipse">
            <a:avLst/>
          </a:prstGeom>
          <a:solidFill>
            <a:srgbClr val="E0F2FE"/>
          </a:solidFill>
          <a:ln/>
        </p:spPr>
      </p:sp>
      <p:sp>
        <p:nvSpPr>
          <p:cNvPr id="18" name="Text 16"/>
          <p:cNvSpPr/>
          <p:nvPr/>
        </p:nvSpPr>
        <p:spPr>
          <a:xfrm>
            <a:off x="3200400" y="2633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369A1"/>
                </a:solidFill>
              </a:rPr>
              <a:t>04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840480" y="2660904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수집 계획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3200400" y="3182112"/>
            <a:ext cx="566928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3337560"/>
            <a:ext cx="457200" cy="457200"/>
          </a:xfrm>
          <a:prstGeom prst="ellipse">
            <a:avLst/>
          </a:prstGeom>
          <a:solidFill>
            <a:srgbClr val="E0F2FE"/>
          </a:solidFill>
          <a:ln/>
        </p:spPr>
      </p:sp>
      <p:sp>
        <p:nvSpPr>
          <p:cNvPr id="22" name="Text 20"/>
          <p:cNvSpPr/>
          <p:nvPr/>
        </p:nvSpPr>
        <p:spPr>
          <a:xfrm>
            <a:off x="320040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369A1"/>
                </a:solidFill>
              </a:rPr>
              <a:t>05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840480" y="3364992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분석 단계별 계획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3200400" y="3886200"/>
            <a:ext cx="566928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0" y="4041648"/>
            <a:ext cx="457200" cy="457200"/>
          </a:xfrm>
          <a:prstGeom prst="ellipse">
            <a:avLst/>
          </a:prstGeom>
          <a:solidFill>
            <a:srgbClr val="E0F2FE"/>
          </a:solidFill>
          <a:ln/>
        </p:spPr>
      </p:sp>
      <p:sp>
        <p:nvSpPr>
          <p:cNvPr id="26" name="Text 24"/>
          <p:cNvSpPr/>
          <p:nvPr/>
        </p:nvSpPr>
        <p:spPr>
          <a:xfrm>
            <a:off x="3200400" y="4041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369A1"/>
                </a:solidFill>
              </a:rPr>
              <a:t>06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840480" y="406908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일정 및 한계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D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분석 배경 및 필요성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1148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64008" cy="1828800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987552"/>
            <a:ext cx="420624" cy="420624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9875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87552" y="996696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배달 산업의 구조적 한계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1426464"/>
            <a:ext cx="3794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플랫폼 간 경쟁 심화로 라이더 수급난 · 인건비 상승 지속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소비자 배달비 부담 가중 및 플랫폼 수익성 악화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비용 구조 개선을 위한 대안 물류 수단 도입 시급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754880" y="822960"/>
            <a:ext cx="41148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822960"/>
            <a:ext cx="64008" cy="1828800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12" name="Shape 10"/>
          <p:cNvSpPr/>
          <p:nvPr/>
        </p:nvSpPr>
        <p:spPr>
          <a:xfrm>
            <a:off x="4937760" y="987552"/>
            <a:ext cx="420624" cy="420624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9875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68112" y="996696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라스트마일 서비스 공백 해소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937760" y="1426464"/>
            <a:ext cx="3794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단거리 · 저수익 구간에 대한 인적 자원 회피 심화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인력 기피 구간의 물류 연속성 확보 필요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24시간 무중단 배달 체계 구축 가능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274320" y="2788920"/>
            <a:ext cx="411480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788920"/>
            <a:ext cx="64008" cy="1965960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18" name="Shape 16"/>
          <p:cNvSpPr/>
          <p:nvPr/>
        </p:nvSpPr>
        <p:spPr>
          <a:xfrm>
            <a:off x="457200" y="2953512"/>
            <a:ext cx="420624" cy="420624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29535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87552" y="2962656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로봇 하드웨어 한계 고려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57200" y="3392424"/>
            <a:ext cx="3794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 상용 배달로봇 등판 한계: 경사도 8% 이하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안정적 운행 권장 기준: 5% 이하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지형 사전 분석 없이 서비스 확장 시 운영 중단 리스크 급증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754880" y="2788920"/>
            <a:ext cx="411480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2788920"/>
            <a:ext cx="64008" cy="1965960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24" name="Shape 22"/>
          <p:cNvSpPr/>
          <p:nvPr/>
        </p:nvSpPr>
        <p:spPr>
          <a:xfrm>
            <a:off x="4937760" y="2953512"/>
            <a:ext cx="420624" cy="420624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25" name="Text 23"/>
          <p:cNvSpPr/>
          <p:nvPr/>
        </p:nvSpPr>
        <p:spPr>
          <a:xfrm>
            <a:off x="4937760" y="29535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68112" y="2962656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기반 확산 모델 구축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937760" y="3392424"/>
            <a:ext cx="3794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현재 운영: 판교 · 강남 일부 시범 운영에 한정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서울 전역 확산을 위한 정량적 입지 분석 프레임워크 부재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배달 수요 + 도시 물리 환경 결합 다차원 분석 필요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D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분석 목표 및 기대효과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2743200" cy="2743200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2743200" cy="54864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00584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📍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11480" y="1810512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기반 입지 선정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2304288"/>
            <a:ext cx="2468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서울시 500m × 500m 격자 단위로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배달 수요 + 도로 환경 결합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도입 우선순위 지도 도출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868680"/>
            <a:ext cx="2743200" cy="2743200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868680"/>
            <a:ext cx="2743200" cy="54864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0" y="100584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🔗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337560" y="1810512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물류 연속성 확보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37560" y="2304288"/>
            <a:ext cx="2468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인력 배달 기피 단거리 구간 중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경사 · 보행 환경 양호 구역 식별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로봇 보완 가능 구간 제시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868680"/>
            <a:ext cx="2743200" cy="2743200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868680"/>
            <a:ext cx="2743200" cy="54864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100584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🔄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263640" y="1810512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재현 가능한 분석 파이프라인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63640" y="2304288"/>
            <a:ext cx="2468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GIS + 다기준 점수화(MCS) 표준화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타 도시 적용 · 데이터 갱신 시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재활용 가능한 구조 설계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74320" y="37947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기대효과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274320" y="4206240"/>
            <a:ext cx="2743200" cy="640080"/>
          </a:xfrm>
          <a:prstGeom prst="rect">
            <a:avLst/>
          </a:prstGeom>
          <a:solidFill>
            <a:srgbClr val="0F2D4A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420624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🏢 민간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88720" y="42062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배달 플랫폼의 로봇 배달 시범 지역 확대 시 우선순위 근거 제공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0" y="4206240"/>
            <a:ext cx="2743200" cy="640080"/>
          </a:xfrm>
          <a:prstGeom prst="rect">
            <a:avLst/>
          </a:prstGeom>
          <a:solidFill>
            <a:srgbClr val="0F2D4A"/>
          </a:solidFill>
          <a:ln/>
        </p:spPr>
      </p:sp>
      <p:sp>
        <p:nvSpPr>
          <p:cNvPr id="24" name="Text 22"/>
          <p:cNvSpPr/>
          <p:nvPr/>
        </p:nvSpPr>
        <p:spPr>
          <a:xfrm>
            <a:off x="3291840" y="420624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🏛️ 공공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114800" y="42062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서울시 스마트 모빌리티 정책 수립 및 보도 정비 우선순위 지원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26480" y="4206240"/>
            <a:ext cx="2743200" cy="640080"/>
          </a:xfrm>
          <a:prstGeom prst="rect">
            <a:avLst/>
          </a:prstGeom>
          <a:solidFill>
            <a:srgbClr val="0F2D4A"/>
          </a:solidFill>
          <a:ln/>
        </p:spPr>
      </p:sp>
      <p:sp>
        <p:nvSpPr>
          <p:cNvPr id="27" name="Text 25"/>
          <p:cNvSpPr/>
          <p:nvPr/>
        </p:nvSpPr>
        <p:spPr>
          <a:xfrm>
            <a:off x="6217920" y="420624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학술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040880" y="42062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물리 환경 × 배달 수요 결합 로봇 입지 분석 방법론 제시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D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가설 (H1 ~ H4)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114800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4114800" cy="64008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987552"/>
            <a:ext cx="457200" cy="457200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987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9784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⛰️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417320" y="10058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지형 조건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1481328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경사도 5% 이하 구간 비율이 높을수록 운행 적합도가 높다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" y="1901952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표고점 KNN 기반 경사도 계산 → 최적(≤5%) · 허용(5~8%) · 불가(&gt;8%) 분류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격자별 최적 구간 비율 산출 후 점수화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74320" y="2852928"/>
            <a:ext cx="4114800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852928"/>
            <a:ext cx="411480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Shape 12"/>
          <p:cNvSpPr/>
          <p:nvPr/>
        </p:nvSpPr>
        <p:spPr>
          <a:xfrm>
            <a:off x="411480" y="3017520"/>
            <a:ext cx="45720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30083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🗺️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417320" y="303580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보행 네트워크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3511296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교차로 밀도가 낮고 링크 연결성이 높을수록 운행 효율이 높다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3931920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도보 네트워크 노드 수(교차로 밀도) · 링크 연결성 지수 산출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복잡도가 낮은 격자가 로봇 경로 계획에 유리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754880" y="822960"/>
            <a:ext cx="4114800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822960"/>
            <a:ext cx="4114800" cy="640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2" name="Shape 20"/>
          <p:cNvSpPr/>
          <p:nvPr/>
        </p:nvSpPr>
        <p:spPr>
          <a:xfrm>
            <a:off x="4892040" y="987552"/>
            <a:ext cx="457200" cy="4572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3" name="Text 21"/>
          <p:cNvSpPr/>
          <p:nvPr/>
        </p:nvSpPr>
        <p:spPr>
          <a:xfrm>
            <a:off x="4892040" y="987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94960" y="9784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🚦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897880" y="10058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횡단 환경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937760" y="1481328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횡단보도 · 신호등 밀도가 적정할수록 이동 예측 가능성이 높다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937760" y="1901952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횡단보도 위치 · 보행자 신호등 분포 격자 집계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과밀 지역은 대기 시간 병목 발생 가능성 높음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754880" y="2852928"/>
            <a:ext cx="4114800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2852928"/>
            <a:ext cx="4114800" cy="64008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0" name="Shape 28"/>
          <p:cNvSpPr/>
          <p:nvPr/>
        </p:nvSpPr>
        <p:spPr>
          <a:xfrm>
            <a:off x="4892040" y="3017520"/>
            <a:ext cx="457200" cy="4572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1" name="Text 29"/>
          <p:cNvSpPr/>
          <p:nvPr/>
        </p:nvSpPr>
        <p:spPr>
          <a:xfrm>
            <a:off x="489204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H4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394960" y="30083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🍜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5897880" y="303580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배달 수요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937760" y="3511296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음식점 · 편의점 밀도가 높을수록 운영 회전율이 높다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4937760" y="3931920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행안부 인허가 API → 업종별 가맹점 수 격자 집계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수요 밀도가 높은 격자에서 로봇 1대당 배달 건수 극대화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274320" y="482803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4개 가설은 각각 독립 검증 후 Spearman 상관분석으로 최종 점수와의 관계 확인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D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데이터 수집 계획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804672"/>
            <a:ext cx="4206240" cy="1261872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804672"/>
            <a:ext cx="54864" cy="1261872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6" name="Text 4"/>
          <p:cNvSpPr/>
          <p:nvPr/>
        </p:nvSpPr>
        <p:spPr>
          <a:xfrm>
            <a:off x="356616" y="9418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⛰️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14400" y="896112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서울시 경사도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(표고점 shp)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46120" y="914400"/>
            <a:ext cx="566928" cy="292608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9" name="Text 7"/>
          <p:cNvSpPr/>
          <p:nvPr/>
        </p:nvSpPr>
        <p:spPr>
          <a:xfrm>
            <a:off x="3246120" y="914400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56616" y="146304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경사도 계산 → 최적/허용/불가 3단계 분류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56616" y="181051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출처: 서울 열린데이터광장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804672"/>
            <a:ext cx="4206240" cy="1261872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804672"/>
            <a:ext cx="54864" cy="12618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4791456" y="9418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🗺️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349240" y="896112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서울시 도보 네트워크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공간정보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680960" y="914400"/>
            <a:ext cx="566928" cy="2926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7680960" y="914400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91456" y="146304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교차로 밀도 · 링크 연결성 지수 산출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791456" y="181051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출처: 서울 열린데이터광장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28600" y="2194560"/>
            <a:ext cx="4206240" cy="1261872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28600" y="2194560"/>
            <a:ext cx="54864" cy="126187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2" name="Text 20"/>
          <p:cNvSpPr/>
          <p:nvPr/>
        </p:nvSpPr>
        <p:spPr>
          <a:xfrm>
            <a:off x="356616" y="2331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🚸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914400" y="2286000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서울시 대로변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횡단보도 위치정보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46120" y="2304288"/>
            <a:ext cx="566928" cy="2926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5" name="Text 23"/>
          <p:cNvSpPr/>
          <p:nvPr/>
        </p:nvSpPr>
        <p:spPr>
          <a:xfrm>
            <a:off x="3246120" y="2304288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56616" y="285292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횡단보도 수 격자 집계 → 횡단 부하 모델링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56616" y="320040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출처: 서울 열린데이터광장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63440" y="2194560"/>
            <a:ext cx="4206240" cy="1261872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63440" y="2194560"/>
            <a:ext cx="54864" cy="126187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0" name="Text 28"/>
          <p:cNvSpPr/>
          <p:nvPr/>
        </p:nvSpPr>
        <p:spPr>
          <a:xfrm>
            <a:off x="4791456" y="2331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🚦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5349240" y="2286000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서울시 보행자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신호등 분포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680960" y="2304288"/>
            <a:ext cx="566928" cy="2926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3" name="Text 31"/>
          <p:cNvSpPr/>
          <p:nvPr/>
        </p:nvSpPr>
        <p:spPr>
          <a:xfrm>
            <a:off x="7680960" y="2304288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H3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791456" y="285292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신호등 밀도 계산 → 신호 대기 부하 지역 식별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791456" y="320040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출처: 서울 열린데이터광장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28600" y="3584448"/>
            <a:ext cx="4206240" cy="1261872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28600" y="3584448"/>
            <a:ext cx="54864" cy="126187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8" name="Text 36"/>
          <p:cNvSpPr/>
          <p:nvPr/>
        </p:nvSpPr>
        <p:spPr>
          <a:xfrm>
            <a:off x="356616" y="37216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🚪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914400" y="3675888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서울시 보행자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출입구 정보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246120" y="3694176"/>
            <a:ext cx="566928" cy="2926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1" name="Text 39"/>
          <p:cNvSpPr/>
          <p:nvPr/>
        </p:nvSpPr>
        <p:spPr>
          <a:xfrm>
            <a:off x="3246120" y="3694176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H3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56616" y="4242816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건물 단위 접근성 점수 산출 → 배송 실패 위험 식별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356616" y="459028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출처: 서울 열린데이터광장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663440" y="3584448"/>
            <a:ext cx="4206240" cy="1261872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663440" y="3584448"/>
            <a:ext cx="54864" cy="126187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46" name="Text 44"/>
          <p:cNvSpPr/>
          <p:nvPr/>
        </p:nvSpPr>
        <p:spPr>
          <a:xfrm>
            <a:off x="4791456" y="37216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🍜</a:t>
            </a:r>
            <a:endParaRPr lang="en-US" sz="2400" dirty="0"/>
          </a:p>
        </p:txBody>
      </p:sp>
      <p:sp>
        <p:nvSpPr>
          <p:cNvPr id="47" name="Text 45"/>
          <p:cNvSpPr/>
          <p:nvPr/>
        </p:nvSpPr>
        <p:spPr>
          <a:xfrm>
            <a:off x="5349240" y="3675888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음식점 · 편의점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인허가 데이터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7680960" y="3694176"/>
            <a:ext cx="566928" cy="292608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49" name="Text 47"/>
          <p:cNvSpPr/>
          <p:nvPr/>
        </p:nvSpPr>
        <p:spPr>
          <a:xfrm>
            <a:off x="7680960" y="3694176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H4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4791456" y="4242816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업종코드 필터 → 격자별 가맹점 수 집계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4791456" y="459028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출처: localdata.go.kr API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2D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분석 파이프라인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274320" y="777240"/>
            <a:ext cx="1097280" cy="397764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777240"/>
            <a:ext cx="109728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88696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1252728"/>
            <a:ext cx="1097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📥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74320" y="1874520"/>
            <a:ext cx="1097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수집 · 전처리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20040" y="2606040"/>
            <a:ext cx="1005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좌표계 통일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500m 격자 생성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공간 조인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71600" y="2377440"/>
            <a:ext cx="137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8BDF8"/>
                </a:solidFill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508760" y="777240"/>
            <a:ext cx="1097280" cy="397764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1" name="Shape 9"/>
          <p:cNvSpPr/>
          <p:nvPr/>
        </p:nvSpPr>
        <p:spPr>
          <a:xfrm>
            <a:off x="1508760" y="777240"/>
            <a:ext cx="109728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2" name="Text 10"/>
          <p:cNvSpPr/>
          <p:nvPr/>
        </p:nvSpPr>
        <p:spPr>
          <a:xfrm>
            <a:off x="1508760" y="88696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508760" y="1252728"/>
            <a:ext cx="1097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⛰️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508760" y="1874520"/>
            <a:ext cx="1097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경사도 분석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554480" y="2606040"/>
            <a:ext cx="1005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KNN 경사도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3단계 분류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격자 점수화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606040" y="2377440"/>
            <a:ext cx="137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8BDF8"/>
                </a:solidFill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743200" y="777240"/>
            <a:ext cx="1097280" cy="397764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8" name="Shape 16"/>
          <p:cNvSpPr/>
          <p:nvPr/>
        </p:nvSpPr>
        <p:spPr>
          <a:xfrm>
            <a:off x="2743200" y="777240"/>
            <a:ext cx="109728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0" y="88696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743200" y="1252728"/>
            <a:ext cx="1097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🗺️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2743200" y="1874520"/>
            <a:ext cx="1097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보행 환경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지표 산출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2788920" y="2606040"/>
            <a:ext cx="1005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네트워크 분석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횡단보도 부하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출입구 접근성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840480" y="2377440"/>
            <a:ext cx="137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8BDF8"/>
                </a:solidFill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977640" y="777240"/>
            <a:ext cx="1097280" cy="397764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5" name="Shape 23"/>
          <p:cNvSpPr/>
          <p:nvPr/>
        </p:nvSpPr>
        <p:spPr>
          <a:xfrm>
            <a:off x="3977640" y="777240"/>
            <a:ext cx="109728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6" name="Text 24"/>
          <p:cNvSpPr/>
          <p:nvPr/>
        </p:nvSpPr>
        <p:spPr>
          <a:xfrm>
            <a:off x="3977640" y="88696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977640" y="1252728"/>
            <a:ext cx="1097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⚖️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3977640" y="1874520"/>
            <a:ext cx="1097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다기준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점수화(MCS)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023360" y="2606040"/>
            <a:ext cx="1005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4개 영역 정규화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가중 합산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격자 적합도 지수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74920" y="2377440"/>
            <a:ext cx="137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8BDF8"/>
                </a:solidFill>
              </a:rPr>
              <a:t>→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212080" y="777240"/>
            <a:ext cx="1097280" cy="397764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2" name="Shape 30"/>
          <p:cNvSpPr/>
          <p:nvPr/>
        </p:nvSpPr>
        <p:spPr>
          <a:xfrm>
            <a:off x="5212080" y="777240"/>
            <a:ext cx="109728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3" name="Text 31"/>
          <p:cNvSpPr/>
          <p:nvPr/>
        </p:nvSpPr>
        <p:spPr>
          <a:xfrm>
            <a:off x="5212080" y="88696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212080" y="1252728"/>
            <a:ext cx="1097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🗂️</a:t>
            </a:r>
            <a:endParaRPr lang="en-US" sz="2800" dirty="0"/>
          </a:p>
        </p:txBody>
      </p:sp>
      <p:sp>
        <p:nvSpPr>
          <p:cNvPr id="35" name="Text 33"/>
          <p:cNvSpPr/>
          <p:nvPr/>
        </p:nvSpPr>
        <p:spPr>
          <a:xfrm>
            <a:off x="5212080" y="1874520"/>
            <a:ext cx="1097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클러스터링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257800" y="2606040"/>
            <a:ext cx="1005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HDBSCAN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군집 해석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5구 선정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309360" y="2377440"/>
            <a:ext cx="137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8BDF8"/>
                </a:solidFill>
              </a:rPr>
              <a:t>→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6446520" y="777240"/>
            <a:ext cx="1097280" cy="397764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9" name="Shape 37"/>
          <p:cNvSpPr/>
          <p:nvPr/>
        </p:nvSpPr>
        <p:spPr>
          <a:xfrm>
            <a:off x="6446520" y="777240"/>
            <a:ext cx="109728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0" name="Text 38"/>
          <p:cNvSpPr/>
          <p:nvPr/>
        </p:nvSpPr>
        <p:spPr>
          <a:xfrm>
            <a:off x="6446520" y="88696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6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446520" y="1252728"/>
            <a:ext cx="1097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✅</a:t>
            </a:r>
            <a:endParaRPr lang="en-US" sz="2800" dirty="0"/>
          </a:p>
        </p:txBody>
      </p:sp>
      <p:sp>
        <p:nvSpPr>
          <p:cNvPr id="42" name="Text 40"/>
          <p:cNvSpPr/>
          <p:nvPr/>
        </p:nvSpPr>
        <p:spPr>
          <a:xfrm>
            <a:off x="6446520" y="1874520"/>
            <a:ext cx="1097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검증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6492240" y="2606040"/>
            <a:ext cx="1005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실증 지역 대조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민감도 분석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로드뷰 검증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543800" y="2377440"/>
            <a:ext cx="137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8BDF8"/>
                </a:solidFill>
              </a:rPr>
              <a:t>→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7680960" y="777240"/>
            <a:ext cx="1097280" cy="397764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46" name="Shape 44"/>
          <p:cNvSpPr/>
          <p:nvPr/>
        </p:nvSpPr>
        <p:spPr>
          <a:xfrm>
            <a:off x="7680960" y="777240"/>
            <a:ext cx="109728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7" name="Text 45"/>
          <p:cNvSpPr/>
          <p:nvPr/>
        </p:nvSpPr>
        <p:spPr>
          <a:xfrm>
            <a:off x="7680960" y="88696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7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7680960" y="1252728"/>
            <a:ext cx="1097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49" name="Text 47"/>
          <p:cNvSpPr/>
          <p:nvPr/>
        </p:nvSpPr>
        <p:spPr>
          <a:xfrm>
            <a:off x="7680960" y="1874520"/>
            <a:ext cx="1097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시각화 · 보고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7726680" y="2606040"/>
            <a:ext cx="1005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히트맵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레이더 차트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보고서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분석 환경: Python (geopandas, scikit-learn, folium)  |  시각화: Folium · Kepler.gl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D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  |  경사도 분석 (핵심 필터)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114800" cy="4005072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9601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분석 방법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38988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 표고점 데이터 로드 (shp → geopandas)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84708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 좌표계 EPSG:5179 통일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30428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 KNN(k=2) 적용 → 가장 가까운 점 탐색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76148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 경사도 = |높이 차| / 수평 거리 × 100(%)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21868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  이상값 제거 (100% 초과 제외)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67588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⑥  격자(500m)별 최적 비율 집계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13308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⑦  Min-Max 정규화 → 경사 점수 산출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822960"/>
            <a:ext cx="4114800" cy="1783080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37760" y="9601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경사도 3단계 분류 기준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937760" y="1417320"/>
            <a:ext cx="868680" cy="32004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16" name="Text 14"/>
          <p:cNvSpPr/>
          <p:nvPr/>
        </p:nvSpPr>
        <p:spPr>
          <a:xfrm>
            <a:off x="4937760" y="141732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803D"/>
                </a:solidFill>
              </a:rPr>
              <a:t>최적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897880" y="1417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 이하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937760" y="1801368"/>
            <a:ext cx="868680" cy="320040"/>
          </a:xfrm>
          <a:prstGeom prst="rect">
            <a:avLst/>
          </a:prstGeom>
          <a:solidFill>
            <a:srgbClr val="FEF9C3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1801368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45309"/>
                </a:solidFill>
              </a:rPr>
              <a:t>허용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897880" y="18013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~ 8%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937760" y="2185416"/>
            <a:ext cx="868680" cy="32004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22" name="Text 20"/>
          <p:cNvSpPr/>
          <p:nvPr/>
        </p:nvSpPr>
        <p:spPr>
          <a:xfrm>
            <a:off x="4937760" y="2185416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91C1C"/>
                </a:solidFill>
              </a:rPr>
              <a:t>불가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97880" y="218541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 초과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54880" y="2743200"/>
            <a:ext cx="4114800" cy="2084832"/>
          </a:xfrm>
          <a:prstGeom prst="rect">
            <a:avLst/>
          </a:prstGeom>
          <a:solidFill>
            <a:srgbClr val="0F2D4A"/>
          </a:solidFill>
          <a:ln/>
        </p:spPr>
      </p:sp>
      <p:sp>
        <p:nvSpPr>
          <p:cNvPr id="25" name="Text 23"/>
          <p:cNvSpPr/>
          <p:nvPr/>
        </p:nvSpPr>
        <p:spPr>
          <a:xfrm>
            <a:off x="4937760" y="28803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인사이트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937760" y="331012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표고점 = 실제 보행 경로 중심으로 기록 → 보도 위 경사도 반영에 적합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937760" y="367588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등고선은 시각화 배경용으로만 활용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937760" y="404164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표고점 간격이 넓은 구간은 급경사 미탐지 가능 → 도보 네트워크 링크 기반으로 보완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937760" y="440740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구별 최적 비율 산출 후 후보 구 1차 필터링 적용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D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  |  다기준 점수화 (MCS)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8595360" cy="566928"/>
          </a:xfrm>
          <a:prstGeom prst="rect">
            <a:avLst/>
          </a:prstGeom>
          <a:solidFill>
            <a:srgbClr val="0F2D4A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804672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격자 적합도 점수  =  지형(35%) + 보행 네트워크(25%) + 횡단 환경(20%) + 배달 수요(20%)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536192"/>
            <a:ext cx="20116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536192"/>
            <a:ext cx="2011680" cy="54864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6459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⛰️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74320" y="21945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74320" y="272491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지형 조건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314553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경사도 최적 구간 비율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349300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KNN 표고점 기반 계산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1536192"/>
            <a:ext cx="20116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50592" y="1536192"/>
            <a:ext cx="201168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2450592" y="16459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🗺️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2450592" y="21945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2450592" y="272491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보행 네트워크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542032" y="314553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교차로 밀도 (역)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542032" y="349300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링크 연결성 지수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26864" y="1536192"/>
            <a:ext cx="20116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26864" y="1536192"/>
            <a:ext cx="201168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2" name="Text 20"/>
          <p:cNvSpPr/>
          <p:nvPr/>
        </p:nvSpPr>
        <p:spPr>
          <a:xfrm>
            <a:off x="4626864" y="16459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🚦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4626864" y="21945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4626864" y="272491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횡단 환경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718304" y="314553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횡단보도 · 신호등 밀도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18304" y="349300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보행자 출입구 접근성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803136" y="1536192"/>
            <a:ext cx="20116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803136" y="1536192"/>
            <a:ext cx="2011680" cy="5486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9" name="Text 27"/>
          <p:cNvSpPr/>
          <p:nvPr/>
        </p:nvSpPr>
        <p:spPr>
          <a:xfrm>
            <a:off x="6803136" y="16459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🍜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6803136" y="21945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6803136" y="272491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배달 수요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894576" y="314553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음식점 · 편의점 밀도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894576" y="349300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인허가 데이터 격자 집계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74320" y="4251960"/>
            <a:ext cx="8595360" cy="594360"/>
          </a:xfrm>
          <a:prstGeom prst="rect">
            <a:avLst/>
          </a:prstGeom>
          <a:solidFill>
            <a:srgbClr val="FEF9C3"/>
          </a:solidFill>
          <a:ln/>
        </p:spPr>
      </p:sp>
      <p:sp>
        <p:nvSpPr>
          <p:cNvPr id="35" name="Shape 33"/>
          <p:cNvSpPr/>
          <p:nvPr/>
        </p:nvSpPr>
        <p:spPr>
          <a:xfrm>
            <a:off x="274320" y="4251960"/>
            <a:ext cx="54864" cy="59436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" y="42519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가중치는 초안값이며, 민감도 분석(±10%p)을 통해 순위 변동 폭 검증 후 최종 확정 예정  |  역방향 지표(교차로 밀도 등)는 역정규화 적용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D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전체 일정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868680" cy="411480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86868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1~2주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234440" y="960120"/>
            <a:ext cx="228600" cy="228600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7" name="Shape 5"/>
          <p:cNvSpPr/>
          <p:nvPr/>
        </p:nvSpPr>
        <p:spPr>
          <a:xfrm>
            <a:off x="1344168" y="1188720"/>
            <a:ext cx="0" cy="45720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00200" y="886968"/>
            <a:ext cx="1005840" cy="320040"/>
          </a:xfrm>
          <a:prstGeom prst="rect">
            <a:avLst/>
          </a:prstGeom>
          <a:solidFill>
            <a:srgbClr val="0369A1">
              <a:alpha val="2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600200" y="88696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369A1"/>
                </a:solidFill>
              </a:rPr>
              <a:t>STEP 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0" y="88696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수집 · 전처리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949440" y="886968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0" y="868680"/>
            <a:ext cx="1600200" cy="384048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0" y="86868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정제 데이터셋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1463040"/>
            <a:ext cx="868680" cy="411480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146304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3주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234440" y="1554480"/>
            <a:ext cx="228600" cy="228600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17" name="Shape 15"/>
          <p:cNvSpPr/>
          <p:nvPr/>
        </p:nvSpPr>
        <p:spPr>
          <a:xfrm>
            <a:off x="1344168" y="1783080"/>
            <a:ext cx="0" cy="45720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00200" y="1481328"/>
            <a:ext cx="1005840" cy="320040"/>
          </a:xfrm>
          <a:prstGeom prst="rect">
            <a:avLst/>
          </a:prstGeom>
          <a:solidFill>
            <a:srgbClr val="0369A1">
              <a:alpha val="2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600200" y="148132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369A1"/>
                </a:solidFill>
              </a:rPr>
              <a:t>STEP 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743200" y="148132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경사도 분석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949440" y="1481328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→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315200" y="1463040"/>
            <a:ext cx="1600200" cy="384048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0" y="146304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경사도 지도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74320" y="2057400"/>
            <a:ext cx="868680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5" name="Text 23"/>
          <p:cNvSpPr/>
          <p:nvPr/>
        </p:nvSpPr>
        <p:spPr>
          <a:xfrm>
            <a:off x="274320" y="205740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4주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234440" y="2148840"/>
            <a:ext cx="228600" cy="2286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7" name="Shape 25"/>
          <p:cNvSpPr/>
          <p:nvPr/>
        </p:nvSpPr>
        <p:spPr>
          <a:xfrm>
            <a:off x="1344168" y="2377440"/>
            <a:ext cx="0" cy="45720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600200" y="2075688"/>
            <a:ext cx="1005840" cy="320040"/>
          </a:xfrm>
          <a:prstGeom prst="rect">
            <a:avLst/>
          </a:prstGeom>
          <a:solidFill>
            <a:srgbClr val="0D9488">
              <a:alpha val="2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1600200" y="207568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STEP 3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743200" y="207568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보행 환경 지표 산출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949440" y="2075688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→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315200" y="2057400"/>
            <a:ext cx="1600200" cy="384048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33" name="Text 31"/>
          <p:cNvSpPr/>
          <p:nvPr/>
        </p:nvSpPr>
        <p:spPr>
          <a:xfrm>
            <a:off x="7315200" y="205740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환경 점수표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274320" y="2651760"/>
            <a:ext cx="868680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5" name="Text 33"/>
          <p:cNvSpPr/>
          <p:nvPr/>
        </p:nvSpPr>
        <p:spPr>
          <a:xfrm>
            <a:off x="274320" y="265176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5주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1234440" y="2743200"/>
            <a:ext cx="228600" cy="2286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7" name="Shape 35"/>
          <p:cNvSpPr/>
          <p:nvPr/>
        </p:nvSpPr>
        <p:spPr>
          <a:xfrm>
            <a:off x="1344168" y="2971800"/>
            <a:ext cx="0" cy="45720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600200" y="2670048"/>
            <a:ext cx="1005840" cy="320040"/>
          </a:xfrm>
          <a:prstGeom prst="rect">
            <a:avLst/>
          </a:prstGeom>
          <a:solidFill>
            <a:srgbClr val="0D9488">
              <a:alpha val="2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1600200" y="267004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STEP 4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2743200" y="267004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다기준 점수화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949440" y="2670048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→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7315200" y="2651760"/>
            <a:ext cx="1600200" cy="384048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43" name="Text 41"/>
          <p:cNvSpPr/>
          <p:nvPr/>
        </p:nvSpPr>
        <p:spPr>
          <a:xfrm>
            <a:off x="7315200" y="265176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적합도 격자 맵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274320" y="3246120"/>
            <a:ext cx="868680" cy="4114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5" name="Text 43"/>
          <p:cNvSpPr/>
          <p:nvPr/>
        </p:nvSpPr>
        <p:spPr>
          <a:xfrm>
            <a:off x="274320" y="324612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6주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1234440" y="3337560"/>
            <a:ext cx="228600" cy="2286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47" name="Shape 45"/>
          <p:cNvSpPr/>
          <p:nvPr/>
        </p:nvSpPr>
        <p:spPr>
          <a:xfrm>
            <a:off x="1344168" y="3566160"/>
            <a:ext cx="0" cy="45720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600200" y="3264408"/>
            <a:ext cx="1005840" cy="320040"/>
          </a:xfrm>
          <a:prstGeom prst="rect">
            <a:avLst/>
          </a:prstGeom>
          <a:solidFill>
            <a:srgbClr val="7C3AED">
              <a:alpha val="20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1600200" y="326440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STEP 5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2743200" y="326440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클러스터링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6949440" y="3264408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→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7315200" y="3246120"/>
            <a:ext cx="1600200" cy="384048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53" name="Text 51"/>
          <p:cNvSpPr/>
          <p:nvPr/>
        </p:nvSpPr>
        <p:spPr>
          <a:xfrm>
            <a:off x="7315200" y="324612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군집 지도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274320" y="3840480"/>
            <a:ext cx="868680" cy="4114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5" name="Text 53"/>
          <p:cNvSpPr/>
          <p:nvPr/>
        </p:nvSpPr>
        <p:spPr>
          <a:xfrm>
            <a:off x="274320" y="384048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7주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1234440" y="3931920"/>
            <a:ext cx="228600" cy="2286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57" name="Shape 55"/>
          <p:cNvSpPr/>
          <p:nvPr/>
        </p:nvSpPr>
        <p:spPr>
          <a:xfrm>
            <a:off x="1344168" y="4160520"/>
            <a:ext cx="0" cy="45720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600200" y="3858768"/>
            <a:ext cx="1005840" cy="320040"/>
          </a:xfrm>
          <a:prstGeom prst="rect">
            <a:avLst/>
          </a:prstGeom>
          <a:solidFill>
            <a:srgbClr val="7C3AED">
              <a:alpha val="20000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1600200" y="385876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STEP 6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2743200" y="385876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검증</a:t>
            </a:r>
            <a:endParaRPr lang="en-US" sz="1400" dirty="0"/>
          </a:p>
        </p:txBody>
      </p:sp>
      <p:sp>
        <p:nvSpPr>
          <p:cNvPr id="61" name="Text 59"/>
          <p:cNvSpPr/>
          <p:nvPr/>
        </p:nvSpPr>
        <p:spPr>
          <a:xfrm>
            <a:off x="6949440" y="3858768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→</a:t>
            </a:r>
            <a:endParaRPr lang="en-US" sz="1300" dirty="0"/>
          </a:p>
        </p:txBody>
      </p:sp>
      <p:sp>
        <p:nvSpPr>
          <p:cNvPr id="62" name="Shape 60"/>
          <p:cNvSpPr/>
          <p:nvPr/>
        </p:nvSpPr>
        <p:spPr>
          <a:xfrm>
            <a:off x="7315200" y="3840480"/>
            <a:ext cx="1600200" cy="384048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63" name="Text 61"/>
          <p:cNvSpPr/>
          <p:nvPr/>
        </p:nvSpPr>
        <p:spPr>
          <a:xfrm>
            <a:off x="7315200" y="384048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검증 결과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274320" y="4434840"/>
            <a:ext cx="868680" cy="41148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65" name="Text 63"/>
          <p:cNvSpPr/>
          <p:nvPr/>
        </p:nvSpPr>
        <p:spPr>
          <a:xfrm>
            <a:off x="274320" y="443484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8주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1234440" y="4526280"/>
            <a:ext cx="228600" cy="2286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67" name="Shape 65"/>
          <p:cNvSpPr/>
          <p:nvPr/>
        </p:nvSpPr>
        <p:spPr>
          <a:xfrm>
            <a:off x="1600200" y="4453128"/>
            <a:ext cx="1005840" cy="320040"/>
          </a:xfrm>
          <a:prstGeom prst="rect">
            <a:avLst/>
          </a:prstGeom>
          <a:solidFill>
            <a:srgbClr val="B45309">
              <a:alpha val="20000"/>
            </a:srgbClr>
          </a:solidFill>
          <a:ln/>
        </p:spPr>
      </p:sp>
      <p:sp>
        <p:nvSpPr>
          <p:cNvPr id="68" name="Text 66"/>
          <p:cNvSpPr/>
          <p:nvPr/>
        </p:nvSpPr>
        <p:spPr>
          <a:xfrm>
            <a:off x="1600200" y="445312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45309"/>
                </a:solidFill>
              </a:rPr>
              <a:t>STEP 7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2743200" y="445312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시각화 · 보고서</a:t>
            </a:r>
            <a:endParaRPr lang="en-US" sz="1400" dirty="0"/>
          </a:p>
        </p:txBody>
      </p:sp>
      <p:sp>
        <p:nvSpPr>
          <p:cNvPr id="70" name="Text 68"/>
          <p:cNvSpPr/>
          <p:nvPr/>
        </p:nvSpPr>
        <p:spPr>
          <a:xfrm>
            <a:off x="6949440" y="4453128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→</a:t>
            </a:r>
            <a:endParaRPr lang="en-US" sz="1300" dirty="0"/>
          </a:p>
        </p:txBody>
      </p:sp>
      <p:sp>
        <p:nvSpPr>
          <p:cNvPr id="71" name="Shape 69"/>
          <p:cNvSpPr/>
          <p:nvPr/>
        </p:nvSpPr>
        <p:spPr>
          <a:xfrm>
            <a:off x="7315200" y="4434840"/>
            <a:ext cx="1600200" cy="384048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72" name="Text 70"/>
          <p:cNvSpPr/>
          <p:nvPr/>
        </p:nvSpPr>
        <p:spPr>
          <a:xfrm>
            <a:off x="7315200" y="443484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최종 보고서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D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분석 한계 및 보완 방향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2062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960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📐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32688" y="98755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경사도 직선 거리 계산 오차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481328"/>
            <a:ext cx="914400" cy="256032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4813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91C1C"/>
                </a:solidFill>
              </a:rPr>
              <a:t>원인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417320" y="148132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건물 · 장애물 우회 경로 미반영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11480" y="1847088"/>
            <a:ext cx="914400" cy="256032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18470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803D"/>
                </a:solidFill>
              </a:rPr>
              <a:t>보완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417320" y="1828800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도보 네트워크 링크 기반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 경로 거리로 보정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709160" y="822960"/>
            <a:ext cx="42062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46320" y="960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🔍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367528" y="98755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표고점 위치 자동 판별 불가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846320" y="1481328"/>
            <a:ext cx="914400" cy="256032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14813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91C1C"/>
                </a:solidFill>
              </a:rPr>
              <a:t>원인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852160" y="148132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보도 / 건물 옥상 자동 구분 어려움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846320" y="1847088"/>
            <a:ext cx="914400" cy="256032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18470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803D"/>
                </a:solidFill>
              </a:rPr>
              <a:t>보완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852160" y="1828800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도보 네트워크와 공간 조인으로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보도 위 점만 필터링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74320" y="2852928"/>
            <a:ext cx="42062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11480" y="29900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🅿️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932688" y="301752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배달로봇 대기 장소 데이터 미확보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11480" y="3511296"/>
            <a:ext cx="914400" cy="256032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26" name="Text 24"/>
          <p:cNvSpPr/>
          <p:nvPr/>
        </p:nvSpPr>
        <p:spPr>
          <a:xfrm>
            <a:off x="411480" y="351129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91C1C"/>
                </a:solidFill>
              </a:rPr>
              <a:t>원인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417320" y="351129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현재 공개 데이터 부재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11480" y="3877056"/>
            <a:ext cx="914400" cy="256032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29" name="Text 27"/>
          <p:cNvSpPr/>
          <p:nvPr/>
        </p:nvSpPr>
        <p:spPr>
          <a:xfrm>
            <a:off x="411480" y="387705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803D"/>
                </a:solidFill>
              </a:rPr>
              <a:t>보완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417320" y="3858768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운영 업체 공개 자료 참고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향후 보완 예정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709160" y="2852928"/>
            <a:ext cx="42062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846320" y="29900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👥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5367528" y="301752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 보행자 밀도 미반영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846320" y="3511296"/>
            <a:ext cx="914400" cy="256032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35" name="Text 33"/>
          <p:cNvSpPr/>
          <p:nvPr/>
        </p:nvSpPr>
        <p:spPr>
          <a:xfrm>
            <a:off x="4846320" y="351129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91C1C"/>
                </a:solidFill>
              </a:rPr>
              <a:t>원인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852160" y="351129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유동인구 데이터 유료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4846320" y="3877056"/>
            <a:ext cx="914400" cy="256032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38" name="Text 36"/>
          <p:cNvSpPr/>
          <p:nvPr/>
        </p:nvSpPr>
        <p:spPr>
          <a:xfrm>
            <a:off x="4846320" y="387705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803D"/>
                </a:solidFill>
              </a:rPr>
              <a:t>보완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852160" y="3858768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서울시 열린데이터광장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집계 유동인구로 대체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2D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128016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</a:rPr>
              <a:t>🤖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457200" y="2468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데이터로 최적 경로를 찾다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3154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서울시 배달로봇 도입 최적 지역 선정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3749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감사합니다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서울시 배달로봇 도입 최적 지역 선정</dc:title>
  <dc:subject>PptxGenJS Presentation</dc:subject>
  <dc:creator>캡스톤 프로젝트</dc:creator>
  <cp:lastModifiedBy>캡스톤 프로젝트</cp:lastModifiedBy>
  <cp:revision>1</cp:revision>
  <dcterms:created xsi:type="dcterms:W3CDTF">2026-04-24T04:53:46Z</dcterms:created>
  <dcterms:modified xsi:type="dcterms:W3CDTF">2026-04-24T04:53:46Z</dcterms:modified>
</cp:coreProperties>
</file>